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Attention Score vs Importance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Attention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Nav Bar</c:v>
                  </c:pt>
                  <c:pt idx="1">
                    <c:v>Upload CTA</c:v>
                  </c:pt>
                  <c:pt idx="2">
                    <c:v>Feature Grid</c:v>
                  </c:pt>
                  <c:pt idx="3">
                    <c:v>Browse Btn</c:v>
                  </c:pt>
                  <c:pt idx="4">
                    <c:v>Footer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85</c:v>
                </c:pt>
                <c:pt idx="2">
                  <c:v>60</c:v>
                </c:pt>
                <c:pt idx="3">
                  <c:v>40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Task Importance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Nav Bar</c:v>
                  </c:pt>
                  <c:pt idx="1">
                    <c:v>Upload CTA</c:v>
                  </c:pt>
                  <c:pt idx="2">
                    <c:v>Feature Grid</c:v>
                  </c:pt>
                  <c:pt idx="3">
                    <c:v>Browse Btn</c:v>
                  </c:pt>
                  <c:pt idx="4">
                    <c:v>Footer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</c:v>
                </c:pt>
                <c:pt idx="1">
                  <c:v>95</c:v>
                </c:pt>
                <c:pt idx="2">
                  <c:v>80</c:v>
                </c:pt>
                <c:pt idx="3">
                  <c:v>55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4572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Eye-Tracking Research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1828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the Smart CV Platform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02920" y="251460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Attention-Driven Interface Analysis  </a:t>
            </a:r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Adedayo Oketade  ·  RDI Project · LAB University of Applied Sciences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Eye-Tracking Research?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143000"/>
            <a:ext cx="822960" cy="822960"/>
          </a:xfrm>
          <a:prstGeom prst="ellipse">
            <a:avLst/>
          </a:prstGeom>
          <a:solidFill>
            <a:srgbClr val="D1FAF5"/>
          </a:solidFill>
          <a:ln w="12700">
            <a:solidFill>
              <a:srgbClr val="D1FAF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07008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6060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users pause and focus — indicates areas of attention and interest.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64408" y="9601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24528" y="1143000"/>
            <a:ext cx="822960" cy="822960"/>
          </a:xfrm>
          <a:prstGeom prst="ellipse">
            <a:avLst/>
          </a:prstGeom>
          <a:solidFill>
            <a:srgbClr val="D1FAF5"/>
          </a:solidFill>
          <a:ln w="12700">
            <a:solidFill>
              <a:srgbClr val="D1FAF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207008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55848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Saccades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01568" y="26060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eye movements between fixations — reveals the reading and scanning path.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08776" y="9601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68896" y="1143000"/>
            <a:ext cx="822960" cy="822960"/>
          </a:xfrm>
          <a:prstGeom prst="ellipse">
            <a:avLst/>
          </a:prstGeom>
          <a:solidFill>
            <a:srgbClr val="D1FAF5"/>
          </a:solidFill>
          <a:ln w="12700">
            <a:solidFill>
              <a:srgbClr val="D1FAF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1207008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Paths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45936" y="26060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trajectory of gaze — shows how users navigate visual hierarchy.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20040" y="4389120"/>
            <a:ext cx="8503920" cy="548640"/>
          </a:xfrm>
          <a:prstGeom prst="rect">
            <a:avLst/>
          </a:prstGeom>
          <a:solidFill>
            <a:srgbClr val="D1FA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44531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Eye-tracking validates layout assumptions by revealing whether visual attention matches design intent.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Context: Smart CV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Platform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CV builder with NLP parsing (spaCy)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+ FastAPI backend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+ Neon PostgreSQL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for smart CV enhancement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CV upload, parse, edit, AI improve, export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3776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937760" y="1417320"/>
            <a:ext cx="36576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17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1984248"/>
            <a:ext cx="9144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167128"/>
            <a:ext cx="3657600" cy="566928"/>
          </a:xfrm>
          <a:prstGeom prst="rect">
            <a:avLst/>
          </a:prstGeom>
          <a:solidFill>
            <a:srgbClr val="0A7970"/>
          </a:solidFill>
          <a:ln w="12700">
            <a:solidFill>
              <a:srgbClr val="0A79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1671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2734056"/>
            <a:ext cx="9144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2916936"/>
            <a:ext cx="3657600" cy="566928"/>
          </a:xfrm>
          <a:prstGeom prst="rect">
            <a:avLst/>
          </a:prstGeom>
          <a:solidFill>
            <a:srgbClr val="065F5A"/>
          </a:solidFill>
          <a:ln w="12700">
            <a:solidFill>
              <a:srgbClr val="065F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9169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NLP Parser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3483864"/>
            <a:ext cx="9144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3666744"/>
            <a:ext cx="36576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6667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PostgreSQL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Interface View: CV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CV  ·  Dashboard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20116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08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CV 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150876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508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Templates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2194560" cy="68580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945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71800" y="2194560"/>
            <a:ext cx="2194560" cy="68580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1945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Edit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2194560" cy="68580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089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71800" y="3108960"/>
            <a:ext cx="2194560" cy="68580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31089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Wireframe: Smart CV Dashboard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60720" y="914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Attention Elements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760720" y="91440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146304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6208" y="1463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36208" y="1719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&amp; routing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226771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6208" y="2267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36208" y="2523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307238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36208" y="30723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Templates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6208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action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60720" y="387705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36208" y="38770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grid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36208" y="4133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capability overview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Scan Paths &amp; Visual Entry 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F-Pattern Scan Path (Predicted)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74904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2743200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50592"/>
            <a:ext cx="128016" cy="2212848"/>
          </a:xfrm>
          <a:prstGeom prst="rect">
            <a:avLst/>
          </a:prstGeom>
          <a:solidFill>
            <a:srgbClr val="D1FAF5"/>
          </a:solidFill>
          <a:ln w="12700">
            <a:solidFill>
              <a:srgbClr val="D1FA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01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Nav bar: first horizontal sweep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313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CTA area: second horizontal sweep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Left edge: vertical scan downward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Points Analysis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17320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17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Zone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Priority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7647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7922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logo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179222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67712"/>
            <a:ext cx="4114800" cy="475488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29514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229514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77063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7980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279806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273552"/>
            <a:ext cx="4114800" cy="475488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30098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33009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Alignment vs Task Priorities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2120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914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852160" y="914400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52160" y="1463040"/>
            <a:ext cx="3017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57276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0" y="1481328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CTA: high importance AND high attention — well placed.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852160" y="2286000"/>
            <a:ext cx="3017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395728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0" y="2304288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Grid: important but under-attended — needs visual boost.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852160" y="3108960"/>
            <a:ext cx="3017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3218688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00800" y="3127248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Bar: over-attended relative to task value — may distract.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5852160" y="3931920"/>
            <a:ext cx="3017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4041648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00800" y="3950208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Footer: low on both — consistent; no action needed.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Layout: Guiding Attention More Effectively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CTA and Browse button share equal visual weight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grid uses uniform grey cards — no hierarchy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bar spans full width with high contrast — over-attracts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enhancement section is below the fold — rarely seen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651760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92040" y="868680"/>
            <a:ext cx="40233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868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92040" y="12801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74920" y="14173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CTA enlarged + teal fill; Browse button outlined only — clear hierarchy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grid: accent color + icon on most-used features to draw gaze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bar slimmed to 40px height, lighter background to reduce visual weight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section promoted above the fold with a distinct highlight band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Ethical Considerations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1615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98755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Access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32688" y="129844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eye-tracking hardware is expensive. This analysis uses principled prediction based on F/Z-pattern theory rather than live data.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14884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5059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2688" y="22219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≠ Comprehension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32688" y="253288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Fixation on an element does not confirm that the user understood or engaged with it — only that they looked at it.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74320" y="338328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85032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32688" y="34564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Variance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32688" y="376732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paths differ by user background, literacy, and task familiarity. Aggregate patterns may obscure meaningful subgroup differences.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846320" y="9144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16152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04688" y="98755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(if live)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504688" y="129844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eye-tracking captures biometric data. Participants must give informed consent; data should be anonymised and stored securely.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846320" y="214884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450592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04688" y="22219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Method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504688" y="253288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Eye-tracking should pair with user testing and usability interviews to explain why users attend to certain areas, not just where.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4572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640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1481328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Upload CTA is correctly positioned — eye-tracking theory confirms strong attentional pull.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267712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2286000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Grid needs visual reinforcement: icons and accent colors to compete for gaze.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072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3090672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Navigation Bar should be visually slimmed to prevent over-attention on non-task areas.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877056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877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3895344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Eye-tracking principles improved the layout rationale — decisions are now attention-justified.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7548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8188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Adedayo Oketade  |  RDI Project · Smart CV Platform  |  LAB University of Applied Sciences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Eye-Tracking Research – Smart CV Platform</dc:title>
  <dc:subject>PptxGenJS Presentation</dc:subject>
  <dc:creator>Peter Adedayo Oketade</dc:creator>
  <cp:lastModifiedBy>Peter Adedayo Oketade</cp:lastModifiedBy>
  <cp:revision>1</cp:revision>
  <dcterms:created xsi:type="dcterms:W3CDTF">2026-04-30T10:48:42Z</dcterms:created>
  <dcterms:modified xsi:type="dcterms:W3CDTF">2026-04-30T10:48:42Z</dcterms:modified>
</cp:coreProperties>
</file>