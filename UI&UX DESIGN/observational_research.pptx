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548640"/>
            <a:ext cx="3657600" cy="3657600"/>
          </a:xfrm>
          <a:prstGeom prst="ellipse">
            <a:avLst/>
          </a:prstGeom>
          <a:solidFill>
            <a:srgbClr val="3D4066"/>
          </a:solidFill>
          <a:ln w="12700">
            <a:solidFill>
              <a:srgbClr val="3D40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182880"/>
            <a:ext cx="2194560" cy="2194560"/>
          </a:xfrm>
          <a:prstGeom prst="ellipse">
            <a:avLst/>
          </a:prstGeom>
          <a:solidFill>
            <a:srgbClr val="2B2D42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50292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Observational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02920" y="14173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02920" y="23317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users in their real context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02920" y="29718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Observation  |  </a:t>
            </a:r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34015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Adedayo Oketade  ·  LAB University of Applied Sciences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4160520"/>
            <a:ext cx="8138160" cy="71323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3D406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4206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31520" y="45262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Behavior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0" y="4206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743200" y="45262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Insight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754880" y="4206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Tacit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754880" y="45262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Revealed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766560" y="4206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766560" y="45262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 Bias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Observational Research?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937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1143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Rooted in Ethnography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298448" y="14630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social science, it studies users in real or realistic contexts — not labs.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3172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23317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Behavior over Self-Report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298448" y="26517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what users actually do — hesitations, errors, workarounds — not what they say they do.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20440"/>
            <a:ext cx="502920" cy="5029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35204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Reveals Tacit Knowledge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1298448" y="38404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habits and adaptations users perform unconsciously — things no interview would uncover.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5623560" y="1005840"/>
            <a:ext cx="3108960" cy="1737360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5760720" y="10789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Distinction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715000" y="14630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Observational research shifts the design mindset from how a system should work to how it is actually used.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623560" y="2926080"/>
            <a:ext cx="3108960" cy="1920240"/>
          </a:xfrm>
          <a:prstGeom prst="rect">
            <a:avLst/>
          </a:prstGeom>
          <a:solidFill>
            <a:srgbClr val="FFFBEB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5760720" y="29992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to Use It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742432" y="3456432"/>
            <a:ext cx="128016" cy="128016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94360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Safety-critical systems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742432" y="3776472"/>
            <a:ext cx="128016" cy="128016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943600" y="37398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Public-facing interfaces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742432" y="4096512"/>
            <a:ext cx="128016" cy="128016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943600" y="40599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workflows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742432" y="4416552"/>
            <a:ext cx="128016" cy="128016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943600" y="43799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used under stress or interruption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Observational Research is Conducted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987552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987552"/>
            <a:ext cx="420624" cy="1664208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87552"/>
            <a:ext cx="42062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09728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0744" y="107899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the Context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923544" y="1517904"/>
            <a:ext cx="204825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 realistic setting where the system is used. Avoid controlled labs — observe in the actual use environment (office, commute, home, field).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27832" y="987552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27832" y="987552"/>
            <a:ext cx="420624" cy="1664208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27832" y="987552"/>
            <a:ext cx="42062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184" y="109728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97096" y="107899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Recruit Participants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739896" y="1517904"/>
            <a:ext cx="204825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2–5 users representative of the target group. More participants don't always help — depth over breadth matters here.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044184" y="987552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44184" y="987552"/>
            <a:ext cx="420624" cy="1664208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044184" y="987552"/>
            <a:ext cx="42062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1097280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13448" y="107899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 Without Intervening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556248" y="1517904"/>
            <a:ext cx="204825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instruct or correct users during the session. Remain neutral. Your job is to see what happens, not guide what should happen.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594360" y="2816352"/>
            <a:ext cx="3977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94360" y="2816352"/>
            <a:ext cx="420624" cy="1664208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94360" y="2816352"/>
            <a:ext cx="42062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" y="2926080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63624" y="2907792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 Structured Notes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1106424" y="3346704"/>
            <a:ext cx="337413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Document: hesitations, errors, workarounds, environmental constraints, shortcuts invented on the fly, moments of confusion.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4910328" y="2816352"/>
            <a:ext cx="3977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910328" y="2816352"/>
            <a:ext cx="420624" cy="1664208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4910328" y="2816352"/>
            <a:ext cx="42062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2926080"/>
            <a:ext cx="347472" cy="34747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879592" y="2907792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Analyze Findings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5422392" y="3346704"/>
            <a:ext cx="337413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context-dependent usability issues. Ask: which design assumptions don't hold in real use? What must change?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to Look For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categories of observable behavior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114800" cy="1737360"/>
          </a:xfrm>
          <a:prstGeom prst="rect">
            <a:avLst/>
          </a:prstGeom>
          <a:solidFill>
            <a:srgbClr val="3D1A1A"/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4173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4173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Hesitations &amp; Errors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190195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User pauses before acting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8640" y="217627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Wrong path taken, then corrected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245059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Re-reading labels multiple times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48640" y="272491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Unexpected error messages triggered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54880" y="1280160"/>
            <a:ext cx="4114800" cy="1737360"/>
          </a:xfrm>
          <a:prstGeom prst="rect">
            <a:avLst/>
          </a:prstGeom>
          <a:solidFill>
            <a:srgbClr val="3D2D0A"/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4173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4173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Workarounds &amp; Shortcuts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937760" y="190195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User invents a non-intended path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937760" y="217627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Copy-paste instead of using a form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937760" y="245059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Bookmarks to bypass navigation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937760" y="272491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Ignoring features in favour of alternatives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65760" y="3246120"/>
            <a:ext cx="4114800" cy="1737360"/>
          </a:xfrm>
          <a:prstGeom prst="rect">
            <a:avLst/>
          </a:prstGeom>
          <a:solidFill>
            <a:srgbClr val="0A2D2B"/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38328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1560" y="3383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Environmental Constraints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48640" y="386791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Interruptions mid-task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548640" y="414223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Physical discomfort (screen glare, posture)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548640" y="441655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Time pressure affecting decisions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548640" y="469087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Device switching or multitasking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754880" y="3246120"/>
            <a:ext cx="4114800" cy="1737360"/>
          </a:xfrm>
          <a:prstGeom prst="rect">
            <a:avLst/>
          </a:prstGeom>
          <a:solidFill>
            <a:srgbClr val="2D2A0A"/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3383280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440680" y="3383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E6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Contextual Adaptations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4937760" y="386791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User adjusts behavior based on context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4937760" y="414223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Social factors (others watching screen)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4937760" y="441655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Familiar vs unfamiliar terminology used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4937760" y="469087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Differences across repeat sessions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Application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CV Platform – Contextual Observation Scenario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1463040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161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Observation Context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job-seeking student updates their CV using the Smart CV Platform on a laptop while in a busy university library — interrupted, time-pressured, and switching between the platform and job listing tabs.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4114800" cy="1463040"/>
          </a:xfrm>
          <a:prstGeom prst="rect">
            <a:avLst/>
          </a:prstGeom>
          <a:solidFill>
            <a:srgbClr val="FFFBEB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2161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Would Be Observed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664208"/>
            <a:ext cx="128016" cy="128016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6048" y="16276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re-uploads CV 3× due to unclear feedback on parse status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975104"/>
            <a:ext cx="128016" cy="128016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193852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job description keywords manually into AI prompt — workaround for missing auto-match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2286000"/>
            <a:ext cx="128016" cy="128016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8" y="224942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Abandons template picker after 30 sec — too many options under time pressure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Implications Uncovered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3383280"/>
            <a:ext cx="384048" cy="38404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15568" y="33375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Assumption broken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94360" y="3794760"/>
            <a:ext cx="23957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feedback assumed to be clear — observation revealed 3 re-uploads due to silent failure states.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355848" y="3246120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3383280"/>
            <a:ext cx="384048" cy="38404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014216" y="33375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Workaround detected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3493008" y="3794760"/>
            <a:ext cx="23957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copy-paste of job keywords reveals missing auto-import feature that users clearly need.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254496" y="3246120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3383280"/>
            <a:ext cx="384048" cy="38404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912864" y="33375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Context-driven finding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391656" y="3794760"/>
            <a:ext cx="23957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pressure caused template abandonment — lab testing would never reproduce this insight.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Analyzing Observations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321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182880" cy="1188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Q1: Which issues are context-dependent?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444752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problem is a design flaw — some arise only under specific conditions (stress, interruption, environment). Distinguish universal issues from situational ones.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49240" y="1115568"/>
            <a:ext cx="3291840" cy="969264"/>
          </a:xfrm>
          <a:prstGeom prst="rect">
            <a:avLst/>
          </a:prstGeom>
          <a:solidFill>
            <a:srgbClr val="FFFBEB"/>
          </a:solidFill>
          <a:ln w="12700">
            <a:solidFill>
              <a:srgbClr val="E8A020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40680" y="117043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→  The template overload problem only appeared under time pressure, not in relaxed use — a contextual finding.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8321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77440"/>
            <a:ext cx="18288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468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Q2: Which design assumptions don't hold?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816352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what you assumed users would do vs. what you observed. Every mismatch is a design requirement update.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49240" y="2487168"/>
            <a:ext cx="3291840" cy="969264"/>
          </a:xfrm>
          <a:prstGeom prst="rect">
            <a:avLst/>
          </a:prstGeom>
          <a:solidFill>
            <a:srgbClr val="FFFBEB"/>
          </a:solidFill>
          <a:ln w="12700">
            <a:solidFill>
              <a:srgbClr val="E8A020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254203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→  Assumed: users read upload feedback. Observed: users retry instead of reading — feedback is not visible enough.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8321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749040"/>
            <a:ext cx="182880" cy="1188720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8404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Q3: What are the concrete implications?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187952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observation must translate into a specific, actionable change. Vague findings are useless — name the exact design or technical change required.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49240" y="3858768"/>
            <a:ext cx="3291840" cy="969264"/>
          </a:xfrm>
          <a:prstGeom prst="rect">
            <a:avLst/>
          </a:prstGeom>
          <a:solidFill>
            <a:srgbClr val="FFFBEB"/>
          </a:solidFill>
          <a:ln w="12700">
            <a:solidFill>
              <a:srgbClr val="E8A020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0680" y="391363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→  Add a visible upload progress indicator with clear success/failure state and a retry-with-reason message.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Strengths &amp; Limitations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402336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Strengths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087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43560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behavior users cannot articulate in interviews — tacit knowledge made visible.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130552"/>
            <a:ext cx="4023360" cy="594360"/>
          </a:xfrm>
          <a:prstGeom prst="rect">
            <a:avLst/>
          </a:prstGeom>
          <a:solidFill>
            <a:srgbClr val="F7F8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221992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214884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context-specific problems invisible in controlled lab tests.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7200" y="2843784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935224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2862072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Uncovers workarounds that signal missing or broken features.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57200" y="3557016"/>
            <a:ext cx="4023360" cy="594360"/>
          </a:xfrm>
          <a:prstGeom prst="rect">
            <a:avLst/>
          </a:prstGeom>
          <a:solidFill>
            <a:srgbClr val="F7F8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648456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0120" y="3575304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concrete, specific design requirements from real evidence.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4663440" y="987552"/>
            <a:ext cx="4114800" cy="411480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Limitations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4663440" y="141732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1508760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166360" y="1435608"/>
            <a:ext cx="3493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effect: users may behave differently when aware they are being watched.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4663440" y="2130552"/>
            <a:ext cx="4114800" cy="594360"/>
          </a:xfrm>
          <a:prstGeom prst="rect">
            <a:avLst/>
          </a:prstGeom>
          <a:solidFill>
            <a:srgbClr val="F7F8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3168" y="2221992"/>
            <a:ext cx="292608" cy="29260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166360" y="2148840"/>
            <a:ext cx="3493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Time-intensive to conduct and analyze — not suitable for quick iterations.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4663440" y="2843784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3168" y="2935224"/>
            <a:ext cx="292608" cy="29260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166360" y="2862072"/>
            <a:ext cx="3493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samples — findings may not generalize across all user groups.</a:t>
            </a:r>
            <a:endParaRPr lang="en-US" sz="1100" dirty="0"/>
          </a:p>
        </p:txBody>
      </p:sp>
      <p:sp>
        <p:nvSpPr>
          <p:cNvPr id="28" name="Shape 19"/>
          <p:cNvSpPr/>
          <p:nvPr/>
        </p:nvSpPr>
        <p:spPr>
          <a:xfrm>
            <a:off x="4663440" y="3557016"/>
            <a:ext cx="4114800" cy="594360"/>
          </a:xfrm>
          <a:prstGeom prst="rect">
            <a:avLst/>
          </a:prstGeom>
          <a:solidFill>
            <a:srgbClr val="F7F8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3168" y="3648456"/>
            <a:ext cx="292608" cy="29260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166360" y="3575304"/>
            <a:ext cx="3493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explain why — must be paired with interviews to understand intent.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Pairing Observation with Other Methods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alone shows what happens — other methods explain why and how to fix 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321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98448"/>
            <a:ext cx="1645920" cy="749808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Interviews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40280" y="1408176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finds the behavior →</a:t>
            </a:r>
            <a:endParaRPr lang="en-US" sz="11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591056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87568" y="1408176"/>
            <a:ext cx="2971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 explain the motivation behind it.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2194560"/>
            <a:ext cx="8321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194560"/>
            <a:ext cx="16459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2194560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Testing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240280" y="2304288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reveals real-world patterns →</a:t>
            </a:r>
            <a:endParaRPr lang="en-US" sz="11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248716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87568" y="2304288"/>
            <a:ext cx="2971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testing validates fixes in a controlled way.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3090672"/>
            <a:ext cx="8321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3090672"/>
            <a:ext cx="1645920" cy="7498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7200" y="3090672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Heuristic Evaluation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2240280" y="3200400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surfaces specific failures →</a:t>
            </a:r>
            <a:endParaRPr lang="en-US" sz="11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3383280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687568" y="3200400"/>
            <a:ext cx="2971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Heuristics map failures to design principles.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457200" y="3986784"/>
            <a:ext cx="8321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57200" y="3986784"/>
            <a:ext cx="1645920" cy="74980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57200" y="3986784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2240280" y="4096512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identifies pain points →</a:t>
            </a:r>
            <a:endParaRPr lang="en-US" sz="11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4279392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687568" y="4096512"/>
            <a:ext cx="2971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quantify how frequently they occur.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2560320"/>
            <a:ext cx="3474720" cy="3474720"/>
          </a:xfrm>
          <a:prstGeom prst="ellipse">
            <a:avLst/>
          </a:prstGeom>
          <a:solidFill>
            <a:srgbClr val="3D4066"/>
          </a:solidFill>
          <a:ln w="12700">
            <a:solidFill>
              <a:srgbClr val="3D406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4747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502920" y="1325880"/>
            <a:ext cx="475488" cy="5303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1325880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97280" y="1353312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context reveals what labs cannot — use observation when environment matters.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130552"/>
            <a:ext cx="475488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2130552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97280" y="2157984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&gt; self-report: what users do contradicts what they say, every time.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935224"/>
            <a:ext cx="475488" cy="5303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935224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97280" y="2962656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Workarounds are design signals — every shortcut a user invents is a missing feature.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3739896"/>
            <a:ext cx="475488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3739896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97280" y="3767328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interviews to move from 'what' to 'why' — observation alone is incomplete.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0292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Adedayo Oketade  |  Observational Research  |  LAB University of Applied Sciences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Observational Research – UI/UX Design</dc:title>
  <dc:subject>PptxGenJS Presentation</dc:subject>
  <dc:creator>Peter Adedayo Oketade</dc:creator>
  <cp:lastModifiedBy>Peter Adedayo Oketade</cp:lastModifiedBy>
  <cp:revision>1</cp:revision>
  <dcterms:created xsi:type="dcterms:W3CDTF">2026-05-05T19:48:58Z</dcterms:created>
  <dcterms:modified xsi:type="dcterms:W3CDTF">2026-05-05T19:48:58Z</dcterms:modified>
</cp:coreProperties>
</file>