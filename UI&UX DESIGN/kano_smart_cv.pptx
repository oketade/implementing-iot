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C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3C2E"/>
                </a:solidFill>
                <a:latin typeface="Arial"/>
              </a:rPr>
              <a:t>Features by Kano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3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Basic (Must-Have)</c:v>
                  </c:pt>
                  <c:pt idx="1">
                    <c:v>Performance (Linear)</c:v>
                  </c:pt>
                  <c:pt idx="2">
                    <c:v>Delight (Excitement)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A3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796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DEE8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79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457200"/>
            <a:ext cx="2286000" cy="22860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114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Kano Analysis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Prioritisation for the Smart CV Platform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2057400"/>
            <a:ext cx="164592" cy="16459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2144" y="2057400"/>
            <a:ext cx="164592" cy="16459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99616" y="2057400"/>
            <a:ext cx="164592" cy="16459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47088" y="2057400"/>
            <a:ext cx="164592" cy="16459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algn="l" indent="0" marL="0">
              <a:buNone/>
            </a:pPr>
            <a:r>
              <a:rPr lang="en-US" sz="1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 Analysis  |  </a:t>
            </a:r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algn="l" indent="0" marL="0">
              <a:buNone/>
            </a:pPr>
            <a:r>
              <a:rPr lang="en-US" sz="1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  ·  RDI Project  ·  LAB University of Applied Sciences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RDI · Smart CV Platform · UI/UX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Kano Analysis?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06040" cy="3474720"/>
          </a:xfrm>
          <a:prstGeom prst="rect">
            <a:avLst/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61872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65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users expect as a minimum. Their absence causes dissatisfaction; their presence is simply taken for granted. No competitive advantage here.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2606040" cy="3474720"/>
          </a:xfrm>
          <a:prstGeom prst="rect">
            <a:avLst/>
          </a:prstGeom>
          <a:solidFill>
            <a:srgbClr val="EAF6EE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61872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965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29184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= Better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37560" y="278892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where satisfaction scales with quality. The better implemented, the more satisfied the user — directly competitive.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606040" cy="3474720"/>
          </a:xfrm>
          <a:prstGeom prst="rect">
            <a:avLst/>
          </a:prstGeom>
          <a:solidFill>
            <a:srgbClr val="FFFAE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261872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0" y="1965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Delight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12648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Excitement Factor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172200" y="278892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features that surprise and delight. Users don't know they want them until they have them — these create differentiation.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02920" y="4700016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not all features deliver equal satisfaction — Kano reveals where to invest for maximum impact.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CV Platform – Features Under Analysis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9728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65760" y="1097280"/>
            <a:ext cx="50292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972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Upload &amp; Parsing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PDF/DOCX → spaCy NLP extraction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847088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847088"/>
            <a:ext cx="50292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8470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2167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rewrites CV sections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596896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596896"/>
            <a:ext cx="50292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5968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2642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Edit Interface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916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editing of parsed fields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3346704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346704"/>
            <a:ext cx="50292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33467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0120" y="3392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formatted CV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4096512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4096512"/>
            <a:ext cx="50292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0965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60120" y="4142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Feedback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4416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messages on form inputs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09160" y="109728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1097280"/>
            <a:ext cx="50292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09160" y="10972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30352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 Score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0352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similarity vs job description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09160" y="1847088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709160" y="1847088"/>
            <a:ext cx="50292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09160" y="18470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30352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Gallery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303520" y="2167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CV layout options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709160" y="2596896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709160" y="2596896"/>
            <a:ext cx="50292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09160" y="25968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303520" y="2642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303520" y="2916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compare past CV versions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709160" y="3346704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709160" y="3346704"/>
            <a:ext cx="50292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09160" y="33467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303520" y="3392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Indicator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30352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completeness score/bar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709160" y="4096512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709160" y="4096512"/>
            <a:ext cx="50292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09160" y="40965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303520" y="4142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LinkedIn Import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5303520" y="4416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from LinkedIn profile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Kano Classification of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241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93392" y="1024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3552" y="1024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73952" y="1024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898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– CV Upload &amp; Parsing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65960" y="1453896"/>
            <a:ext cx="1005840" cy="21945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4538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6120" y="13898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use the platform without this. Absence = product failure.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46520" y="1389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Must-have; no competitive value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755648"/>
            <a:ext cx="8412480" cy="347472"/>
          </a:xfrm>
          <a:prstGeom prst="rect">
            <a:avLst/>
          </a:prstGeom>
          <a:solidFill>
            <a:srgbClr val="F0F7F2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755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– AI Enhancement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65960" y="1819656"/>
            <a:ext cx="1005840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18196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46120" y="17556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value; transforms a static tool into an intelligent assistant.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1755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surprise &amp; differentiation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12140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21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– Smart Edit Interface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65960" y="2185416"/>
            <a:ext cx="1005840" cy="21945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21854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21214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expect to edit what was parsed. Non-negotiable for minimal viability.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Required; no delight added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487168"/>
            <a:ext cx="8412480" cy="347472"/>
          </a:xfrm>
          <a:prstGeom prst="rect">
            <a:avLst/>
          </a:prstGeom>
          <a:solidFill>
            <a:srgbClr val="F0F7F2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– PDF Export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65960" y="2551176"/>
            <a:ext cx="1005840" cy="21945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25511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46120" y="24871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deliverable of any CV builder. Users take this for granted.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2487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baseline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285292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8529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– Error Feedback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65960" y="2916936"/>
            <a:ext cx="1005840" cy="2194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65960" y="29169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46120" y="28529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feedback = fewer mistakes = faster task completion.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46520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quality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218688"/>
            <a:ext cx="8412480" cy="347472"/>
          </a:xfrm>
          <a:prstGeom prst="rect">
            <a:avLst/>
          </a:prstGeom>
          <a:solidFill>
            <a:srgbClr val="F0F7F2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218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– Job Match Score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965960" y="3282696"/>
            <a:ext cx="1005840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65960" y="3282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46120" y="32186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Unexpected; users don't expect CV tools to benchmark against job ads.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46520" y="3218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surprise value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58444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584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– Template Gallery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65960" y="3648456"/>
            <a:ext cx="1005840" cy="2194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65960" y="36484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46120" y="3584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templates = more choice = higher satisfaction up to a point.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46520" y="3584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benefit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3950208"/>
            <a:ext cx="8412480" cy="347472"/>
          </a:xfrm>
          <a:prstGeom prst="rect">
            <a:avLst/>
          </a:prstGeom>
          <a:solidFill>
            <a:srgbClr val="F0F7F2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39502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– Version History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965960" y="4014216"/>
            <a:ext cx="1005840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65960" y="4014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46120" y="39502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expected; adds safety and iterative confidence for power users.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46520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for returning users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– Progress Indicator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965960" y="4379976"/>
            <a:ext cx="1005840" cy="2194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65960" y="43799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246120" y="43159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completeness bar directly guides user effort and reduces drop-off.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46520" y="4315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engagement boost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F0F7F2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46817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– LinkedIn Import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965960" y="4745736"/>
            <a:ext cx="1005840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65960" y="4745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46120" y="46817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data import is unexpected; reduces friction dramatically.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46520" y="4681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convenience delight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Distribution of Feature Categories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166360" y="1005840"/>
            <a:ext cx="3657600" cy="1097280"/>
          </a:xfrm>
          <a:prstGeom prst="rect">
            <a:avLst/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230368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943600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0" y="1408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Edit, Export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viability — must be flawless.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166360" y="2240280"/>
            <a:ext cx="3657600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3036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943600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0" y="26426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Feedback, Templates, Progress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2898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here scales satisfaction.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166360" y="3474720"/>
            <a:ext cx="3657600" cy="1097280"/>
          </a:xfrm>
          <a:prstGeom prst="rect">
            <a:avLst/>
          </a:prstGeom>
          <a:solidFill>
            <a:srgbClr val="FFFAE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230368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5943600" y="3547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Delight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943600" y="38770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Job Match, Versions, LinkedIn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differentiation potential.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Allocation Insights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2004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8412480" cy="1170432"/>
          </a:xfrm>
          <a:prstGeom prst="rect">
            <a:avLst/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65760" y="1051560"/>
            <a:ext cx="201168" cy="117043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143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Over-Engineer Basics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463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Edit, and Export are table-stakes. Spend just enough to make them reliable and fast — over-investing yields no satisfaction gain. A slow upload crushes UX more than a brilliant AI feature can save it.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0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Invest: Reliability only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2350008"/>
            <a:ext cx="8412480" cy="1170432"/>
          </a:xfrm>
          <a:prstGeom prst="rect">
            <a:avLst/>
          </a:prstGeom>
          <a:solidFill>
            <a:srgbClr val="EAF6EE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350008"/>
            <a:ext cx="201168" cy="1170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4414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Performance Features Strategically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276148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feedback, templates, and the progress indicator scale directly. More templates → more choice. Better error messages → fewer drop-offs. Small polish here produces measurable satisfaction improvements.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2807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Invest: Proportional quality improvement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3648456"/>
            <a:ext cx="8412480" cy="1170432"/>
          </a:xfrm>
          <a:prstGeom prst="rect">
            <a:avLst/>
          </a:prstGeom>
          <a:solidFill>
            <a:srgbClr val="FFFAE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3648456"/>
            <a:ext cx="201168" cy="1170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73989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Prioritise Delight for Differentiation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405993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 delight features, Smart CV has strong differentiation potential. AI Enhancement and Job Match Score are the highest-value investments — they transform a utility into an intelligent career tool nobody expects.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98080" y="410565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Invest: High ROI — these make the product memorable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Refined Project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97480" cy="3840480"/>
          </a:xfrm>
          <a:prstGeom prst="rect">
            <a:avLst/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2697480" cy="50292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Foundation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1719072"/>
            <a:ext cx="219456" cy="21945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00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Upload &amp; Parsing (F1)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0352" y="2377440"/>
            <a:ext cx="219456" cy="21945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91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Edit Interface (F3)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3035808"/>
            <a:ext cx="219456" cy="21945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(F4)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251460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31596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done right — no excuses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743200"/>
            <a:ext cx="164592" cy="16459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291840" y="1051560"/>
            <a:ext cx="2697480" cy="3840480"/>
          </a:xfrm>
          <a:prstGeom prst="rect">
            <a:avLst/>
          </a:prstGeom>
          <a:solidFill>
            <a:srgbClr val="EAF6EE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1051560"/>
            <a:ext cx="269748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1051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Refinement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456432" y="1719072"/>
            <a:ext cx="219456" cy="21945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700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Feedback quality (F5)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456432" y="2377440"/>
            <a:ext cx="219456" cy="21945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67328" y="23591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Gallery expansion (F7)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456432" y="3035808"/>
            <a:ext cx="219456" cy="21945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67328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Indicator (F9)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383280" y="4297680"/>
            <a:ext cx="251460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29000" y="431596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satisfaction systematically</a:t>
            </a:r>
            <a:endParaRPr lang="en-US" sz="10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743200"/>
            <a:ext cx="164592" cy="16459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217920" y="1051560"/>
            <a:ext cx="2697480" cy="3840480"/>
          </a:xfrm>
          <a:prstGeom prst="rect">
            <a:avLst/>
          </a:prstGeom>
          <a:solidFill>
            <a:srgbClr val="FFFAE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0" y="1051560"/>
            <a:ext cx="269748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09360" y="1051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Differentiation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382512" y="1719072"/>
            <a:ext cx="219456" cy="21945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93408" y="1700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Enhancement (F2)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382512" y="2377440"/>
            <a:ext cx="219456" cy="21945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693408" y="23591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 Score (F6)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382512" y="3035808"/>
            <a:ext cx="219456" cy="21945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93408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Import (F10)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382512" y="3694176"/>
            <a:ext cx="219456" cy="21945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693408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(F8)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6309360" y="4297680"/>
            <a:ext cx="251460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355080" y="431596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features — memorable UX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Reflection: Kano in Practice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272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1887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Basics are invisible until broken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67335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the Smart CV platform revealed that Upload, Edit, and Export already existed but had rough edges. Kano confirmed that fixing these has higher urgency than adding new features — users notice what's broken before they appreciate what's innovative.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5272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68112" y="11887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Delight features justify the 'AI-powered' label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937760" y="167335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 Enhancement and Job Match, Smart CV is just another form builder. Kano analysis makes it clear that the platform's identity depends on delight features — they're what makes the RDI project compelling and worth further investment.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7296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31089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Kano expectations shift over time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48640" y="359359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CV improvements are currently a delight feature. Within 2–3 years, as AI tools proliferate, this will likely become a baseline expectation. Kano must be revisited regularly — today's differentiator becomes tomorrow's hygiene factor.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75488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7296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68112" y="31089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Prioritisation is now evidence-based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937760" y="359359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Kano, feature decisions were driven by technical interest or convenience. After this analysis, the roadmap follows user satisfaction logic: basics first, performance second, delight third — a principled, user-centred sequence.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286000" cy="22860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200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502920" cy="53035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801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298448"/>
            <a:ext cx="6035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Basic features define platform viability — they must be flawless before anything else.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084832"/>
            <a:ext cx="50292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0848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2103120"/>
            <a:ext cx="6035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Performance features scale satisfaction — targeted polish here has measurable ROI.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889504"/>
            <a:ext cx="502920" cy="5303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88950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2907792"/>
            <a:ext cx="6035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Delight features are the platform's competitive identity — especially AI Enhancement and Job Match.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694176"/>
            <a:ext cx="502920" cy="530352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69417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3712464"/>
            <a:ext cx="6035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 gives the development roadmap a principled, user-satisfaction-driven sequence.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  |  RDI Project · Smart CV Platform  |  LAB University of Applied Sciences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Kano Analysis – Smart CV Platform</dc:title>
  <dc:subject>PptxGenJS Presentation</dc:subject>
  <dc:creator>Peter Adedayo Oketade</dc:creator>
  <cp:lastModifiedBy>Peter Adedayo Oketade</cp:lastModifiedBy>
  <cp:revision>1</cp:revision>
  <dcterms:created xsi:type="dcterms:W3CDTF">2026-05-01T19:48:19Z</dcterms:created>
  <dcterms:modified xsi:type="dcterms:W3CDTF">2026-05-01T19:48:19Z</dcterms:modified>
</cp:coreProperties>
</file>